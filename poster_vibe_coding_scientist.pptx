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0275213" cy="42803763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IBM Plex Sans" panose="020B0503050203000203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4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736" autoAdjust="0"/>
  </p:normalViewPr>
  <p:slideViewPr>
    <p:cSldViewPr snapToGrid="0">
      <p:cViewPr>
        <p:scale>
          <a:sx n="50" d="100"/>
          <a:sy n="50" d="100"/>
        </p:scale>
        <p:origin x="126" y="-8634"/>
      </p:cViewPr>
      <p:guideLst>
        <p:guide orient="horz" pos="13482"/>
        <p:guide pos="94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650" y="685800"/>
            <a:ext cx="2425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f0b5ab66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f0b5ab66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032046" y="4623681"/>
            <a:ext cx="9297300" cy="62892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032046" y="11564195"/>
            <a:ext cx="9297300" cy="26459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879077" y="23327077"/>
            <a:ext cx="13393800" cy="102783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032046" y="9205128"/>
            <a:ext cx="28212000" cy="16340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032046" y="26232690"/>
            <a:ext cx="28212000" cy="1082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EB93E23-60F2-0F71-FFDA-F5195D2CBA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2618343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220125" y="11599607"/>
            <a:ext cx="11342700" cy="10129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8496" y="989746"/>
            <a:ext cx="20684617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8000"/>
            </a:pPr>
            <a:r>
              <a:rPr lang="en-US" sz="8000" b="1" dirty="0">
                <a:solidFill>
                  <a:schemeClr val="dk1"/>
                </a:solidFill>
                <a:latin typeface="Quicksand"/>
                <a:ea typeface="IBM Plex Mono"/>
                <a:cs typeface="IBM Plex Mono"/>
                <a:sym typeface="IBM Plex Mono"/>
              </a:rPr>
              <a:t>Ranking Explainable AI Methods Using Pixel-Level Evidence in Classification Tasks</a:t>
            </a:r>
            <a:endParaRPr sz="8000" b="1" dirty="0">
              <a:latin typeface="Quicksand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20500" y="3128110"/>
            <a:ext cx="297048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de" sz="4100" b="1" dirty="0">
                <a:latin typeface="Quicksand"/>
                <a:ea typeface="IBM Plex Sans"/>
                <a:cs typeface="IBM Plex Sans"/>
                <a:sym typeface="IBM Plex Sans"/>
              </a:rPr>
              <a:t>Anh Khoa Pham – </a:t>
            </a:r>
            <a:r>
              <a:rPr lang="de-DE" sz="4100" b="1" dirty="0" err="1">
                <a:latin typeface="Quicksand"/>
                <a:ea typeface="IBM Plex Sans"/>
                <a:cs typeface="IBM Plex Sans"/>
                <a:sym typeface="IBM Plex Sans"/>
              </a:rPr>
              <a:t>vibe_coding_scientist</a:t>
            </a:r>
            <a:endParaRPr sz="41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10225" y="11599606"/>
            <a:ext cx="11352600" cy="985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XAI Methods</a:t>
            </a:r>
            <a:endParaRPr sz="5200" b="1" dirty="0">
              <a:solidFill>
                <a:srgbClr val="FFFFFF"/>
              </a:solidFill>
              <a:latin typeface="Quicksand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000" y="-18000"/>
            <a:ext cx="30312001" cy="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221925" y="21896815"/>
            <a:ext cx="11354400" cy="764944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20125" y="21906195"/>
            <a:ext cx="11352600" cy="985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Dataset</a:t>
            </a:r>
            <a:endParaRPr sz="5200" b="1" dirty="0">
              <a:solidFill>
                <a:srgbClr val="FFFFFF"/>
              </a:solidFill>
              <a:latin typeface="Quicksand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09925" y="22861387"/>
            <a:ext cx="10984200" cy="668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en-US" sz="4300" dirty="0">
                <a:latin typeface="Quicksand"/>
              </a:rPr>
              <a:t>Subset of the </a:t>
            </a:r>
            <a:r>
              <a:rPr lang="en-US" sz="4300" dirty="0" err="1">
                <a:latin typeface="Quicksand"/>
              </a:rPr>
              <a:t>MVTec</a:t>
            </a:r>
            <a:r>
              <a:rPr lang="en-US" sz="4300" dirty="0">
                <a:latin typeface="Quicksand"/>
              </a:rPr>
              <a:t> AD dataset, focusing exclusively on hazelnut images</a:t>
            </a:r>
          </a:p>
          <a:p>
            <a:pPr marL="457200" lvl="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en-US" sz="4300" dirty="0">
                <a:latin typeface="Quicksand"/>
              </a:rPr>
              <a:t>Each sample includes an input image, a pixel-level ground-truth annotation, and an image-level defect label</a:t>
            </a:r>
          </a:p>
          <a:p>
            <a:pPr marL="457200" lvl="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en-US" sz="4300" dirty="0">
                <a:latin typeface="Quicksand"/>
              </a:rPr>
              <a:t>Five classes are considered: crack, cut, good, hole, and print</a:t>
            </a:r>
          </a:p>
          <a:p>
            <a:pPr marL="457200" lvl="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de-DE" sz="4300" dirty="0">
                <a:latin typeface="Quicksand"/>
              </a:rPr>
              <a:t>Primary </a:t>
            </a:r>
            <a:r>
              <a:rPr lang="de-DE" sz="4300" dirty="0" err="1">
                <a:latin typeface="Quicksand"/>
              </a:rPr>
              <a:t>task</a:t>
            </a:r>
            <a:r>
              <a:rPr lang="de-DE" sz="4300" dirty="0">
                <a:latin typeface="Quicksand"/>
              </a:rPr>
              <a:t>: </a:t>
            </a:r>
            <a:r>
              <a:rPr lang="de-DE" sz="4300" dirty="0" err="1">
                <a:latin typeface="Quicksand"/>
              </a:rPr>
              <a:t>image</a:t>
            </a:r>
            <a:r>
              <a:rPr lang="de-DE" sz="4300" dirty="0">
                <a:latin typeface="Quicksand"/>
              </a:rPr>
              <a:t> </a:t>
            </a:r>
            <a:r>
              <a:rPr lang="de-DE" sz="4300" dirty="0" err="1">
                <a:latin typeface="Quicksand"/>
              </a:rPr>
              <a:t>classification</a:t>
            </a:r>
            <a:endParaRPr sz="43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379400" y="4452984"/>
            <a:ext cx="1060500" cy="9390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Quicksand"/>
                <a:ea typeface="IBM Plex Sans"/>
                <a:cs typeface="IBM Plex Sans"/>
                <a:sym typeface="IBM Plex Sans"/>
              </a:rPr>
              <a:t>1</a:t>
            </a:r>
            <a:endParaRPr sz="480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10225" y="4447071"/>
            <a:ext cx="11342700" cy="70001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10225" y="4447071"/>
            <a:ext cx="11342700" cy="985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Motivation</a:t>
            </a:r>
            <a:endParaRPr sz="5200" b="1" dirty="0">
              <a:solidFill>
                <a:srgbClr val="FFFFFF"/>
              </a:solidFill>
              <a:latin typeface="Quicksand"/>
              <a:ea typeface="Lora"/>
              <a:cs typeface="Lora"/>
              <a:sym typeface="Lora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98225" y="5887071"/>
            <a:ext cx="10731600" cy="556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vi-VN" sz="4300" dirty="0">
                <a:latin typeface="Quicksand"/>
              </a:rPr>
              <a:t>Introduce XAI </a:t>
            </a:r>
            <a:r>
              <a:rPr lang="de-DE" sz="4300" dirty="0" err="1">
                <a:latin typeface="Quicksand"/>
              </a:rPr>
              <a:t>methods</a:t>
            </a:r>
            <a:r>
              <a:rPr lang="vi-VN" sz="4300" dirty="0">
                <a:latin typeface="Quicksand"/>
              </a:rPr>
              <a:t> for Deep Learning</a:t>
            </a:r>
          </a:p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300" dirty="0">
                <a:latin typeface="Quicksand"/>
              </a:rPr>
              <a:t>Quantitatively compare Grad-CAM, Saliency Maps, and Integrated Gradients using a Top-K overlap metric</a:t>
            </a:r>
            <a:endParaRPr lang="vi-VN" sz="4300" dirty="0">
              <a:latin typeface="Quicksand"/>
            </a:endParaRPr>
          </a:p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400" dirty="0">
                <a:latin typeface="Quicksand"/>
              </a:rPr>
              <a:t>Identify the most suitable and faithful explanation method for image classification tasks with pixel-level ground truth</a:t>
            </a:r>
            <a:endParaRPr sz="43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390225" y="4551471"/>
            <a:ext cx="782400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Quicksand"/>
                <a:ea typeface="IBM Plex Sans"/>
                <a:cs typeface="IBM Plex Sans"/>
                <a:sym typeface="IBM Plex Sans"/>
              </a:rPr>
              <a:t>1</a:t>
            </a:r>
            <a:endParaRPr sz="480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7362006" y="7659834"/>
            <a:ext cx="7059238" cy="3069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4300" b="1" dirty="0">
                <a:latin typeface="Quicksand"/>
                <a:ea typeface="IBM Plex Sans"/>
                <a:cs typeface="IBM Plex Sans"/>
                <a:sym typeface="IBM Plex Sans"/>
              </a:rPr>
              <a:t>Motivation</a:t>
            </a:r>
            <a:endParaRPr sz="4300" dirty="0">
              <a:solidFill>
                <a:srgbClr val="000000"/>
              </a:solidFill>
              <a:latin typeface="Quicksand"/>
              <a:ea typeface="IBM Plex Sans"/>
              <a:cs typeface="IBM Plex Sans"/>
              <a:sym typeface="IBM Plex Sans"/>
            </a:endParaRPr>
          </a:p>
          <a:p>
            <a:pPr marL="457200" lvl="0" indent="-476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IBM Plex Sans"/>
              <a:buChar char="●"/>
            </a:pPr>
            <a:r>
              <a:rPr lang="de" sz="4300" dirty="0">
                <a:latin typeface="Quicksand"/>
                <a:ea typeface="IBM Plex Sans"/>
                <a:cs typeface="IBM Plex Sans"/>
                <a:sym typeface="IBM Plex Sans"/>
              </a:rPr>
              <a:t>Motivation</a:t>
            </a:r>
            <a:r>
              <a:rPr lang="de" sz="4300" dirty="0">
                <a:solidFill>
                  <a:srgbClr val="000000"/>
                </a:solidFill>
                <a:latin typeface="Quicksand"/>
                <a:ea typeface="IBM Plex Sans"/>
                <a:cs typeface="IBM Plex Sans"/>
                <a:sym typeface="IBM Plex Sans"/>
              </a:rPr>
              <a:t> 1</a:t>
            </a:r>
            <a:r>
              <a:rPr lang="de" sz="3900" dirty="0">
                <a:solidFill>
                  <a:srgbClr val="000000"/>
                </a:solidFill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de" sz="3400" dirty="0">
                <a:solidFill>
                  <a:srgbClr val="9E9E9E"/>
                </a:solidFill>
                <a:latin typeface="Quicksand"/>
                <a:ea typeface="IBM Plex Sans"/>
                <a:cs typeface="IBM Plex Sans"/>
                <a:sym typeface="IBM Plex Sans"/>
              </a:rPr>
              <a:t>[Lastname et al. 2020]</a:t>
            </a:r>
            <a:endParaRPr sz="3400" dirty="0">
              <a:solidFill>
                <a:srgbClr val="9E9E9E"/>
              </a:solidFill>
              <a:latin typeface="Quicksand"/>
              <a:ea typeface="IBM Plex Sans"/>
              <a:cs typeface="IBM Plex Sans"/>
              <a:sym typeface="IBM Plex Sans"/>
            </a:endParaRPr>
          </a:p>
          <a:p>
            <a:pPr marL="457200" lvl="0" indent="-501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"/>
              <a:buChar char="●"/>
            </a:pPr>
            <a:r>
              <a:rPr lang="de" sz="4300" dirty="0">
                <a:solidFill>
                  <a:schemeClr val="dk1"/>
                </a:solidFill>
                <a:latin typeface="Quicksand"/>
                <a:ea typeface="IBM Plex Sans"/>
                <a:cs typeface="IBM Plex Sans"/>
                <a:sym typeface="IBM Plex Sans"/>
              </a:rPr>
              <a:t>Motivation 2</a:t>
            </a:r>
            <a:endParaRPr sz="3300" dirty="0">
              <a:solidFill>
                <a:srgbClr val="9E9E9E"/>
              </a:solidFill>
              <a:latin typeface="Quicksand"/>
              <a:ea typeface="IBM Plex Sans"/>
              <a:cs typeface="IBM Plex Sans"/>
              <a:sym typeface="IBM Plex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Google Shape;72;p13"/>
              <p:cNvSpPr txBox="1"/>
              <p:nvPr/>
            </p:nvSpPr>
            <p:spPr>
              <a:xfrm>
                <a:off x="498225" y="12947660"/>
                <a:ext cx="10731600" cy="8781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indent="-501650">
                  <a:lnSpc>
                    <a:spcPct val="115000"/>
                  </a:lnSpc>
                  <a:buSzPts val="4300"/>
                  <a:buFont typeface="IBM Plex Sans"/>
                  <a:buChar char="●"/>
                </a:pPr>
                <a:r>
                  <a:rPr lang="vi-VN" sz="4300" dirty="0">
                    <a:latin typeface="Quicksand"/>
                    <a:ea typeface="IBM Plex Sans"/>
                    <a:cs typeface="IBM Plex Sans"/>
                    <a:sym typeface="IBM Plex Sans"/>
                  </a:rPr>
                  <a:t>Saliency Maps: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</m:ctrlPr>
                      </m:sSubSupPr>
                      <m:e>
                        <m:r>
                          <a:rPr lang="de-DE" sz="3500" b="0" i="1" dirty="0" smtClean="0">
                            <a:latin typeface="Cambria Math" panose="02040503050406030204" pitchFamily="18" charset="0"/>
                            <a:sym typeface="IBM Plex Sans"/>
                          </a:rPr>
                          <m:t>𝑆𝑀</m:t>
                        </m:r>
                      </m:e>
                      <m:sub>
                        <m: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  <m:t>𝑐</m:t>
                        </m:r>
                      </m:sub>
                      <m:sup>
                        <m:d>
                          <m:dPr>
                            <m:ctrlP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</m:ctrlPr>
                          </m:dPr>
                          <m:e>
                            <m: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  <m:t>𝑖</m:t>
                            </m:r>
                            <m: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  <m:t>,</m:t>
                            </m:r>
                            <m: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  <m:t>𝑗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</m:ctrlPr>
                      </m:dPr>
                      <m:e>
                        <m: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  <m:t>𝑥</m:t>
                        </m:r>
                      </m:e>
                    </m:d>
                    <m:r>
                      <a:rPr lang="vi-VN" sz="3500" i="1" dirty="0">
                        <a:latin typeface="Cambria Math" panose="02040503050406030204" pitchFamily="18" charset="0"/>
                        <a:sym typeface="IBM Plex Sans"/>
                      </a:rPr>
                      <m:t>=</m:t>
                    </m:r>
                    <m:limLow>
                      <m:limLowPr>
                        <m:ctrlP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</m:ctrlPr>
                      </m:limLowPr>
                      <m:e>
                        <m: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  <m:t>𝑚𝑎𝑥</m:t>
                        </m:r>
                      </m:e>
                      <m:lim>
                        <m: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  <m:t>𝑘</m:t>
                        </m:r>
                        <m: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</m:ctrlPr>
                          </m:dPr>
                          <m:e>
                            <m: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  <m:t>1,…,</m:t>
                            </m:r>
                            <m: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  <m:t>𝐶</m:t>
                            </m:r>
                          </m:e>
                        </m:d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vi-VN" sz="3500" i="1" dirty="0">
                            <a:latin typeface="Cambria Math" panose="02040503050406030204" pitchFamily="18" charset="0"/>
                            <a:sym typeface="IBM Plex Sans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</m:ctrlPr>
                          </m:fPr>
                          <m:num>
                            <m:r>
                              <a:rPr lang="vi-VN" sz="3500" i="1" dirty="0">
                                <a:latin typeface="Cambria Math" panose="02040503050406030204" pitchFamily="18" charset="0"/>
                                <a:sym typeface="IBM Plex Sans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</m:ctrlPr>
                              </m:sSubPr>
                              <m:e>
                                <m: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  <m:t>𝑐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</m:ctrlPr>
                              </m:dPr>
                              <m:e>
                                <m: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</m:ctrlPr>
                              </m:sSubPr>
                              <m:e>
                                <m:r>
                                  <a:rPr lang="vi-VN" sz="3500" i="1" dirty="0">
                                    <a:latin typeface="Cambria Math" panose="02040503050406030204" pitchFamily="18" charset="0"/>
                                    <a:sym typeface="IBM Plex Sans"/>
                                  </a:rPr>
                                  <m:t>𝜕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  <m:t>𝑗</m:t>
                                    </m:r>
                                    <m: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  <m:t>,</m:t>
                                    </m:r>
                                    <m: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  <m:t>𝑗</m:t>
                                    </m:r>
                                    <m: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  <m:t>,</m:t>
                                    </m:r>
                                    <m:r>
                                      <a:rPr lang="vi-VN" sz="3500" i="1" dirty="0">
                                        <a:latin typeface="Cambria Math" panose="02040503050406030204" pitchFamily="18" charset="0"/>
                                        <a:sym typeface="IBM Plex Sans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vi-VN" sz="3500" i="1" dirty="0">
                  <a:latin typeface="Quicksand"/>
                  <a:ea typeface="IBM Plex Sans"/>
                  <a:cs typeface="IBM Plex Sans"/>
                  <a:sym typeface="IBM Plex Sans"/>
                </a:endParaRPr>
              </a:p>
              <a:p>
                <a:pPr marL="457200" indent="-501650">
                  <a:lnSpc>
                    <a:spcPct val="115000"/>
                  </a:lnSpc>
                  <a:buSzPts val="4300"/>
                  <a:buFont typeface="IBM Plex Sans"/>
                  <a:buChar char="●"/>
                </a:pPr>
                <a:r>
                  <a:rPr lang="vi-VN" sz="4300" dirty="0">
                    <a:latin typeface="Quicksand"/>
                    <a:ea typeface="IBM Plex Sans"/>
                    <a:cs typeface="IBM Plex Sans"/>
                    <a:sym typeface="IBM Plex Sans"/>
                  </a:rPr>
                  <a:t>Integrated Gradients: </a:t>
                </a:r>
                <a:endParaRPr lang="de-DE" sz="4300" i="1" dirty="0">
                  <a:latin typeface="Cambria Math" panose="02040503050406030204" pitchFamily="18" charset="0"/>
                  <a:ea typeface="IBM Plex Sans"/>
                  <a:sym typeface="IBM Plex Sans"/>
                </a:endParaRPr>
              </a:p>
              <a:p>
                <a:pPr>
                  <a:lnSpc>
                    <a:spcPct val="115000"/>
                  </a:lnSpc>
                  <a:buSzPts val="4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3500" i="1" smtClean="0">
                          <a:latin typeface="Cambria Math" panose="02040503050406030204" pitchFamily="18" charset="0"/>
                          <a:sym typeface="IBM Plex Sans"/>
                        </a:rPr>
                        <m:t>𝐼</m:t>
                      </m:r>
                      <m:sSub>
                        <m:sSubPr>
                          <m:ctrlP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sSubPr>
                        <m:e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𝐺</m:t>
                          </m:r>
                        </m:e>
                        <m:sub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dPr>
                        <m:e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𝑥</m:t>
                          </m:r>
                        </m:e>
                      </m:d>
                      <m:r>
                        <a:rPr lang="vi-VN" sz="3500" i="1" smtClean="0">
                          <a:latin typeface="Cambria Math" panose="02040503050406030204" pitchFamily="18" charset="0"/>
                          <a:sym typeface="IBM Plex Sans"/>
                        </a:rPr>
                        <m:t>=</m:t>
                      </m:r>
                      <m:d>
                        <m:dPr>
                          <m:ctrlP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dPr>
                        <m:e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𝑥</m:t>
                          </m:r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−</m:t>
                          </m:r>
                          <m:sSup>
                            <m:sSupPr>
                              <m:ctrlP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sSupPr>
                            <m:e>
                              <m: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vi-VN" sz="35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IBM Plex Sans"/>
                        </a:rPr>
                        <m:t>⊙</m:t>
                      </m:r>
                      <m:nary>
                        <m:naryPr>
                          <m:limLoc m:val="undOvr"/>
                          <m:grow m:val="on"/>
                          <m:ctrlP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naryPr>
                        <m:sub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𝛼</m:t>
                          </m:r>
                        </m:sub>
                        <m:sup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fPr>
                            <m:num>
                              <m: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vi-VN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</m:ctrlPr>
                                </m:sSubPr>
                                <m:e>
                                  <m:r>
                                    <a:rPr lang="vi-VN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vi-VN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vi-VN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vi-VN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vi-VN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vi-VN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vi-VN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+</m:t>
                                  </m:r>
                                  <m:r>
                                    <a:rPr lang="vi-VN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𝛼</m:t>
                                  </m:r>
                                  <m:d>
                                    <m:dPr>
                                      <m:ctrlPr>
                                        <a:rPr lang="vi-VN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𝑥</m:t>
                                      </m:r>
                                      <m:r>
                                        <a:rPr lang="vi-VN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vi-VN" sz="3500" i="1" smtClean="0">
                                              <a:latin typeface="Cambria Math" panose="02040503050406030204" pitchFamily="18" charset="0"/>
                                              <a:sym typeface="IBM Plex San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vi-VN" sz="3500" i="1" smtClean="0">
                                              <a:latin typeface="Cambria Math" panose="02040503050406030204" pitchFamily="18" charset="0"/>
                                              <a:sym typeface="IBM Plex San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vi-VN" sz="3500" i="1" smtClean="0">
                                              <a:latin typeface="Cambria Math" panose="02040503050406030204" pitchFamily="18" charset="0"/>
                                              <a:sym typeface="IBM Plex Sans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𝜕</m:t>
                              </m:r>
                              <m:r>
                                <a:rPr lang="vi-VN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𝑥</m:t>
                              </m:r>
                            </m:den>
                          </m:f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ⅆ</m:t>
                          </m:r>
                          <m:r>
                            <a:rPr lang="vi-VN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𝛼</m:t>
                          </m:r>
                        </m:e>
                      </m:nary>
                    </m:oMath>
                  </m:oMathPara>
                </a14:m>
                <a:endParaRPr lang="vi-VN" sz="3500" dirty="0">
                  <a:latin typeface="Quicksand"/>
                  <a:ea typeface="IBM Plex Sans"/>
                  <a:cs typeface="IBM Plex Sans"/>
                  <a:sym typeface="IBM Plex Sans"/>
                </a:endParaRPr>
              </a:p>
              <a:p>
                <a:pPr marL="457200" lvl="0" indent="-501650">
                  <a:lnSpc>
                    <a:spcPct val="115000"/>
                  </a:lnSpc>
                  <a:buSzPts val="4300"/>
                  <a:buFont typeface="IBM Plex Sans"/>
                  <a:buChar char="●"/>
                </a:pPr>
                <a:r>
                  <a:rPr lang="de-DE" sz="4300" dirty="0">
                    <a:latin typeface="Quicksand"/>
                    <a:ea typeface="IBM Plex Sans"/>
                    <a:cs typeface="IBM Plex Sans"/>
                    <a:sym typeface="IBM Plex Sans"/>
                  </a:rPr>
                  <a:t>Grad-CAM: </a:t>
                </a:r>
              </a:p>
              <a:p>
                <a:pPr lvl="0">
                  <a:lnSpc>
                    <a:spcPct val="115000"/>
                  </a:lnSpc>
                  <a:buSzPts val="43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sSubSupPr>
                        <m:e>
                          <m: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  <m:t>𝛼</m:t>
                          </m:r>
                        </m:e>
                        <m:sub>
                          <m: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  <m:t>𝑘</m:t>
                          </m:r>
                        </m:sub>
                        <m:sup>
                          <m: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  <m:t>𝐶</m:t>
                          </m:r>
                        </m:sup>
                      </m:sSubSup>
                      <m:r>
                        <a:rPr lang="de-DE" sz="3500" i="1">
                          <a:latin typeface="Cambria Math" panose="02040503050406030204" pitchFamily="18" charset="0"/>
                          <a:sym typeface="IBM Plex Sans"/>
                        </a:rPr>
                        <m:t>=</m:t>
                      </m:r>
                      <m:f>
                        <m:fPr>
                          <m:ctrlP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fPr>
                        <m:num>
                          <m: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  <m:t>1</m:t>
                          </m:r>
                        </m:num>
                        <m:den>
                          <m:r>
                            <a:rPr lang="de-DE" sz="3500" i="1">
                              <a:latin typeface="Cambria Math" panose="02040503050406030204" pitchFamily="18" charset="0"/>
                              <a:sym typeface="IBM Plex Sans"/>
                            </a:rPr>
                            <m:t>𝑧</m:t>
                          </m:r>
                        </m:den>
                      </m:f>
                      <m:r>
                        <a:rPr lang="de-DE" sz="3500" i="1">
                          <a:latin typeface="Cambria Math" panose="02040503050406030204" pitchFamily="18" charset="0"/>
                          <a:sym typeface="IBM Plex Sans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de-DE" sz="3500" b="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i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de-DE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de-DE" sz="3500" b="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j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de-DE" sz="3500" i="1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</m:ctrlPr>
                                </m:fPr>
                                <m:num>
                                  <m:r>
                                    <a:rPr lang="de-DE" sz="3500" i="1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vi-VN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vi-VN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de-DE" sz="3500" i="1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de-DE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de-DE" sz="3500" i="1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de-DE" sz="3500" dirty="0">
                  <a:latin typeface="Quicksand"/>
                  <a:ea typeface="IBM Plex Sans"/>
                  <a:cs typeface="IBM Plex Sans"/>
                  <a:sym typeface="IBM Plex Sans"/>
                </a:endParaRPr>
              </a:p>
              <a:p>
                <a:pPr lvl="0">
                  <a:lnSpc>
                    <a:spcPct val="115000"/>
                  </a:lnSpc>
                  <a:buSzPts val="43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3500" i="1" smtClean="0">
                          <a:latin typeface="Cambria Math" panose="02040503050406030204" pitchFamily="18" charset="0"/>
                          <a:sym typeface="IBM Plex Sans"/>
                        </a:rPr>
                        <m:t>𝐺</m:t>
                      </m:r>
                      <m:sSub>
                        <m:sSubPr>
                          <m:ctrlP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sSubPr>
                        <m:e>
                          <m: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𝐶</m:t>
                          </m:r>
                        </m:e>
                        <m:sub>
                          <m: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dPr>
                        <m:e>
                          <m: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𝑥</m:t>
                          </m:r>
                        </m:e>
                      </m:d>
                      <m:r>
                        <a:rPr lang="de-DE" sz="3500" i="1" smtClean="0">
                          <a:latin typeface="Cambria Math" panose="02040503050406030204" pitchFamily="18" charset="0"/>
                          <a:sym typeface="IBM Plex Sans"/>
                        </a:rPr>
                        <m:t>=</m:t>
                      </m:r>
                      <m:func>
                        <m:funcPr>
                          <m:ctrlP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funcPr>
                        <m:fName>
                          <m: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𝑅𝑒</m:t>
                          </m:r>
                        </m:fName>
                        <m:e>
                          <m:r>
                            <a:rPr lang="de-DE" sz="35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𝐿𝑈</m:t>
                          </m:r>
                          <m:d>
                            <m:dPr>
                              <m:ctrlPr>
                                <a:rPr lang="de-DE" sz="35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de-DE" sz="35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𝐶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de-DE" sz="3500" i="1" smtClean="0">
                                          <a:latin typeface="Cambria Math" panose="02040503050406030204" pitchFamily="18" charset="0"/>
                                          <a:sym typeface="IBM Plex Sans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de-DE" sz="3500" i="1" dirty="0">
                  <a:latin typeface="Quicksand"/>
                  <a:ea typeface="IBM Plex Sans"/>
                  <a:cs typeface="IBM Plex Sans"/>
                  <a:sym typeface="IBM Plex Sans"/>
                </a:endParaRPr>
              </a:p>
            </p:txBody>
          </p:sp>
        </mc:Choice>
        <mc:Fallback>
          <p:sp>
            <p:nvSpPr>
              <p:cNvPr id="72" name="Google Shape;72;p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25" y="12947660"/>
                <a:ext cx="10731600" cy="8781476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Google Shape;74;p13"/>
          <p:cNvSpPr/>
          <p:nvPr/>
        </p:nvSpPr>
        <p:spPr>
          <a:xfrm>
            <a:off x="18943693" y="8567459"/>
            <a:ext cx="641190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2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390225" y="11668302"/>
            <a:ext cx="782400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2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451335" y="22013443"/>
            <a:ext cx="782400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3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007130"/>
            <a:ext cx="30312001" cy="2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" y="42553175"/>
            <a:ext cx="30276000" cy="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17600" y="686825"/>
            <a:ext cx="7378207" cy="21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33113" y="687600"/>
            <a:ext cx="1538712" cy="2127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914C3D4C-FCE5-F7F1-502E-11974DB0FEBA}"/>
              </a:ext>
            </a:extLst>
          </p:cNvPr>
          <p:cNvSpPr/>
          <p:nvPr/>
        </p:nvSpPr>
        <p:spPr>
          <a:xfrm>
            <a:off x="11840925" y="5432271"/>
            <a:ext cx="18046104" cy="1630654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6" name="Google Shape;61;p13">
            <a:extLst>
              <a:ext uri="{FF2B5EF4-FFF2-40B4-BE49-F238E27FC236}">
                <a16:creationId xmlns:a16="http://schemas.microsoft.com/office/drawing/2014/main" id="{0C98BCAB-3CE7-38DC-A096-CC820EF6BEAB}"/>
              </a:ext>
            </a:extLst>
          </p:cNvPr>
          <p:cNvSpPr txBox="1"/>
          <p:nvPr/>
        </p:nvSpPr>
        <p:spPr>
          <a:xfrm>
            <a:off x="11832434" y="4435099"/>
            <a:ext cx="18073200" cy="985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Top-K </a:t>
            </a:r>
            <a:r>
              <a:rPr lang="de-DE" sz="5200" b="1" dirty="0" err="1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Overlap</a:t>
            </a:r>
            <a:r>
              <a:rPr lang="de-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 Evaluation</a:t>
            </a:r>
            <a:endParaRPr sz="5200" b="1" dirty="0">
              <a:solidFill>
                <a:srgbClr val="FFFFFF"/>
              </a:solidFill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Google Shape;74;p13">
            <a:extLst>
              <a:ext uri="{FF2B5EF4-FFF2-40B4-BE49-F238E27FC236}">
                <a16:creationId xmlns:a16="http://schemas.microsoft.com/office/drawing/2014/main" id="{A5F689C3-C7E3-C233-E822-4B754B9F4487}"/>
              </a:ext>
            </a:extLst>
          </p:cNvPr>
          <p:cNvSpPr/>
          <p:nvPr/>
        </p:nvSpPr>
        <p:spPr>
          <a:xfrm>
            <a:off x="12018225" y="4516450"/>
            <a:ext cx="782400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5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" name="Google Shape;62;p13">
            <a:extLst>
              <a:ext uri="{FF2B5EF4-FFF2-40B4-BE49-F238E27FC236}">
                <a16:creationId xmlns:a16="http://schemas.microsoft.com/office/drawing/2014/main" id="{979F6697-1C2F-99B8-BB5C-6F2FAC486E9F}"/>
              </a:ext>
            </a:extLst>
          </p:cNvPr>
          <p:cNvSpPr/>
          <p:nvPr/>
        </p:nvSpPr>
        <p:spPr>
          <a:xfrm>
            <a:off x="220125" y="29776162"/>
            <a:ext cx="11354400" cy="124914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13" name="Google Shape;63;p13">
            <a:extLst>
              <a:ext uri="{FF2B5EF4-FFF2-40B4-BE49-F238E27FC236}">
                <a16:creationId xmlns:a16="http://schemas.microsoft.com/office/drawing/2014/main" id="{1D58976D-4D26-D778-EE2E-3B66102FD7E1}"/>
              </a:ext>
            </a:extLst>
          </p:cNvPr>
          <p:cNvSpPr txBox="1"/>
          <p:nvPr/>
        </p:nvSpPr>
        <p:spPr>
          <a:xfrm>
            <a:off x="220125" y="29795932"/>
            <a:ext cx="11352600" cy="985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T</a:t>
            </a:r>
            <a:r>
              <a:rPr lang="de-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r</a:t>
            </a:r>
            <a:r>
              <a:rPr lang="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aining Pipeline</a:t>
            </a:r>
            <a:endParaRPr sz="5200" b="1" dirty="0">
              <a:solidFill>
                <a:srgbClr val="FFFFFF"/>
              </a:solidFill>
              <a:latin typeface="Quicksand"/>
              <a:ea typeface="Lora"/>
              <a:cs typeface="Lora"/>
              <a:sym typeface="Lora"/>
            </a:endParaRPr>
          </a:p>
        </p:txBody>
      </p:sp>
      <p:sp>
        <p:nvSpPr>
          <p:cNvPr id="15" name="Google Shape;76;p13">
            <a:extLst>
              <a:ext uri="{FF2B5EF4-FFF2-40B4-BE49-F238E27FC236}">
                <a16:creationId xmlns:a16="http://schemas.microsoft.com/office/drawing/2014/main" id="{6AC22EEA-428E-D56B-D5A2-5C2B944FA2B7}"/>
              </a:ext>
            </a:extLst>
          </p:cNvPr>
          <p:cNvSpPr/>
          <p:nvPr/>
        </p:nvSpPr>
        <p:spPr>
          <a:xfrm>
            <a:off x="454329" y="29936990"/>
            <a:ext cx="782400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4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8A7ABC9A-B0F6-E87A-722E-E6E72A7DCA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0997" t="5669" r="19986" b="10123"/>
          <a:stretch>
            <a:fillRect/>
          </a:stretch>
        </p:blipFill>
        <p:spPr>
          <a:xfrm>
            <a:off x="482325" y="31106843"/>
            <a:ext cx="11186535" cy="62264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" name="Google Shape;64;p13">
                <a:extLst>
                  <a:ext uri="{FF2B5EF4-FFF2-40B4-BE49-F238E27FC236}">
                    <a16:creationId xmlns:a16="http://schemas.microsoft.com/office/drawing/2014/main" id="{A1E39B3B-E4D2-FAF1-6163-687EB39C296A}"/>
                  </a:ext>
                </a:extLst>
              </p:cNvPr>
              <p:cNvSpPr txBox="1"/>
              <p:nvPr/>
            </p:nvSpPr>
            <p:spPr>
              <a:xfrm>
                <a:off x="454329" y="36944936"/>
                <a:ext cx="10984200" cy="1920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495300">
                  <a:lnSpc>
                    <a:spcPct val="120000"/>
                  </a:lnSpc>
                  <a:buSzPts val="4200"/>
                  <a:buFont typeface="IBM Plex Sans"/>
                  <a:buChar char="●"/>
                </a:pPr>
                <a:r>
                  <a:rPr lang="de-DE" sz="4400" dirty="0">
                    <a:latin typeface="Quicksand"/>
                    <a:ea typeface="IBM Plex Sans"/>
                    <a:cs typeface="IBM Plex Sans"/>
                    <a:sym typeface="IBM Plex Sans"/>
                  </a:rPr>
                  <a:t>Multi-task </a:t>
                </a:r>
                <a:r>
                  <a:rPr lang="de-DE" sz="4400" dirty="0" err="1">
                    <a:latin typeface="Quicksand"/>
                    <a:ea typeface="IBM Plex Sans"/>
                    <a:cs typeface="IBM Plex Sans"/>
                    <a:sym typeface="IBM Plex Sans"/>
                  </a:rPr>
                  <a:t>learning</a:t>
                </a:r>
                <a:r>
                  <a:rPr lang="de-DE" sz="4400" dirty="0">
                    <a:latin typeface="Quicksand"/>
                    <a:ea typeface="IBM Plex Sans"/>
                    <a:cs typeface="IBM Plex Sans"/>
                    <a:sym typeface="IBM Plex Sans"/>
                  </a:rPr>
                  <a:t> </a:t>
                </a:r>
                <a:r>
                  <a:rPr lang="de-DE" sz="4400" dirty="0" err="1">
                    <a:latin typeface="Quicksand"/>
                    <a:ea typeface="IBM Plex Sans"/>
                    <a:cs typeface="IBM Plex Sans"/>
                    <a:sym typeface="IBM Plex Sans"/>
                  </a:rPr>
                  <a:t>loss</a:t>
                </a:r>
                <a:r>
                  <a:rPr lang="de-DE" sz="4400" dirty="0">
                    <a:latin typeface="Quicksand"/>
                    <a:ea typeface="IBM Plex Sans"/>
                    <a:cs typeface="IBM Plex Sans"/>
                    <a:sym typeface="IBM Plex Sans"/>
                  </a:rPr>
                  <a:t>:</a:t>
                </a:r>
              </a:p>
              <a:p>
                <a:pPr lvl="0">
                  <a:lnSpc>
                    <a:spcPct val="120000"/>
                  </a:lnSpc>
                  <a:buSzPts val="4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4300" i="1" smtClean="0">
                          <a:latin typeface="Cambria Math" panose="02040503050406030204" pitchFamily="18" charset="0"/>
                          <a:sym typeface="IBM Plex Sans"/>
                        </a:rPr>
                        <m:t>ℒ</m:t>
                      </m:r>
                      <m:r>
                        <a:rPr lang="de-DE" sz="4300" i="1" smtClean="0">
                          <a:latin typeface="Cambria Math" panose="02040503050406030204" pitchFamily="18" charset="0"/>
                          <a:sym typeface="IBM Plex Sans"/>
                        </a:rPr>
                        <m:t>=</m:t>
                      </m:r>
                      <m:sSub>
                        <m:sSubPr>
                          <m:ctrlP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sSubPr>
                        <m:e>
                          <m: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300" b="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CE</m:t>
                          </m:r>
                        </m:sub>
                      </m:sSub>
                      <m:d>
                        <m:dPr>
                          <m:ctrlP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e-DE" sz="43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accPr>
                            <m:e>
                              <m:r>
                                <a:rPr lang="de-DE" sz="43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𝑦</m:t>
                              </m:r>
                            </m:e>
                          </m:acc>
                          <m: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,</m:t>
                          </m:r>
                          <m: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𝑦</m:t>
                          </m:r>
                        </m:e>
                      </m:d>
                      <m:r>
                        <a:rPr lang="de-DE" sz="4300" i="1" smtClean="0">
                          <a:latin typeface="Cambria Math" panose="02040503050406030204" pitchFamily="18" charset="0"/>
                          <a:sym typeface="IBM Plex Sans"/>
                        </a:rPr>
                        <m:t>+</m:t>
                      </m:r>
                      <m:r>
                        <a:rPr lang="de-DE" sz="4300" i="1" smtClean="0">
                          <a:latin typeface="Cambria Math" panose="02040503050406030204" pitchFamily="18" charset="0"/>
                          <a:sym typeface="IBM Plex Sans"/>
                        </a:rPr>
                        <m:t>𝜆</m:t>
                      </m:r>
                      <m:sSub>
                        <m:sSubPr>
                          <m:ctrlP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sSubPr>
                        <m:e>
                          <m: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ℒ</m:t>
                          </m:r>
                        </m:e>
                        <m:sub>
                          <m: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𝐵𝐶</m:t>
                          </m:r>
                          <m:r>
                            <m:rPr>
                              <m:sty m:val="p"/>
                            </m:rPr>
                            <a:rPr lang="de-DE" sz="4300" b="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E</m:t>
                          </m:r>
                        </m:sub>
                      </m:sSub>
                      <m:d>
                        <m:dPr>
                          <m:ctrlP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43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de-DE" sz="43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</m:ctrlPr>
                                </m:accPr>
                                <m:e>
                                  <m:r>
                                    <a:rPr lang="de-DE" sz="43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43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de-DE" sz="4300" b="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es</m:t>
                              </m:r>
                            </m:sub>
                          </m:sSub>
                          <m:r>
                            <a:rPr lang="de-DE" sz="4300" i="1" smtClean="0">
                              <a:latin typeface="Cambria Math" panose="02040503050406030204" pitchFamily="18" charset="0"/>
                              <a:sym typeface="IBM Plex Sans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sz="43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</m:ctrlPr>
                            </m:sSubPr>
                            <m:e>
                              <m:r>
                                <a:rPr lang="de-DE" sz="4300" i="1" smtClean="0">
                                  <a:latin typeface="Cambria Math" panose="02040503050406030204" pitchFamily="18" charset="0"/>
                                  <a:sym typeface="IBM Plex Sans"/>
                                </a:rPr>
                                <m:t>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de-DE" sz="43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</m:ctrlPr>
                                </m:sSubPr>
                                <m:e>
                                  <m:r>
                                    <a:rPr lang="de-DE" sz="43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de-DE" sz="4300" i="1" smtClean="0">
                                      <a:latin typeface="Cambria Math" panose="02040503050406030204" pitchFamily="18" charset="0"/>
                                      <a:sym typeface="IBM Plex Sans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de-DE" sz="4300" dirty="0">
                  <a:latin typeface="Quicksand"/>
                  <a:ea typeface="IBM Plex Sans"/>
                  <a:cs typeface="IBM Plex Sans"/>
                  <a:sym typeface="IBM Plex Sans"/>
                </a:endParaRPr>
              </a:p>
            </p:txBody>
          </p:sp>
        </mc:Choice>
        <mc:Fallback>
          <p:sp>
            <p:nvSpPr>
              <p:cNvPr id="27" name="Google Shape;64;p13">
                <a:extLst>
                  <a:ext uri="{FF2B5EF4-FFF2-40B4-BE49-F238E27FC236}">
                    <a16:creationId xmlns:a16="http://schemas.microsoft.com/office/drawing/2014/main" id="{A1E39B3B-E4D2-FAF1-6163-687EB39C2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29" y="36944936"/>
                <a:ext cx="10984200" cy="1920432"/>
              </a:xfrm>
              <a:prstGeom prst="rect">
                <a:avLst/>
              </a:prstGeom>
              <a:blipFill>
                <a:blip r:embed="rId9"/>
                <a:stretch>
                  <a:fillRect l="-19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elle 27">
                <a:extLst>
                  <a:ext uri="{FF2B5EF4-FFF2-40B4-BE49-F238E27FC236}">
                    <a16:creationId xmlns:a16="http://schemas.microsoft.com/office/drawing/2014/main" id="{0260CF7A-D124-B404-B704-76F440D090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6599785"/>
                  </p:ext>
                </p:extLst>
              </p:nvPr>
            </p:nvGraphicFramePr>
            <p:xfrm>
              <a:off x="230025" y="39848279"/>
              <a:ext cx="11342700" cy="242963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16789">
                      <a:extLst>
                        <a:ext uri="{9D8B030D-6E8A-4147-A177-3AD203B41FA5}">
                          <a16:colId xmlns:a16="http://schemas.microsoft.com/office/drawing/2014/main" val="481421021"/>
                        </a:ext>
                      </a:extLst>
                    </a:gridCol>
                    <a:gridCol w="2554515">
                      <a:extLst>
                        <a:ext uri="{9D8B030D-6E8A-4147-A177-3AD203B41FA5}">
                          <a16:colId xmlns:a16="http://schemas.microsoft.com/office/drawing/2014/main" val="2057229557"/>
                        </a:ext>
                      </a:extLst>
                    </a:gridCol>
                    <a:gridCol w="2496457">
                      <a:extLst>
                        <a:ext uri="{9D8B030D-6E8A-4147-A177-3AD203B41FA5}">
                          <a16:colId xmlns:a16="http://schemas.microsoft.com/office/drawing/2014/main" val="312669834"/>
                        </a:ext>
                      </a:extLst>
                    </a:gridCol>
                    <a:gridCol w="2598057">
                      <a:extLst>
                        <a:ext uri="{9D8B030D-6E8A-4147-A177-3AD203B41FA5}">
                          <a16:colId xmlns:a16="http://schemas.microsoft.com/office/drawing/2014/main" val="1486738712"/>
                        </a:ext>
                      </a:extLst>
                    </a:gridCol>
                    <a:gridCol w="2476882">
                      <a:extLst>
                        <a:ext uri="{9D8B030D-6E8A-4147-A177-3AD203B41FA5}">
                          <a16:colId xmlns:a16="http://schemas.microsoft.com/office/drawing/2014/main" val="1758152548"/>
                        </a:ext>
                      </a:extLst>
                    </a:gridCol>
                  </a:tblGrid>
                  <a:tr h="7326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Split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Loss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Loss CE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2500" b="1" dirty="0"/>
                            <a:t>Loss BCE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 err="1"/>
                            <a:t>Accuracy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544258"/>
                      </a:ext>
                    </a:extLst>
                  </a:tr>
                  <a:tr h="8485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Train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2500" dirty="0"/>
                            <a:t>0.0631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0.0530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dirty="0"/>
                            <a:t>0.0581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0.0527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0.0050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0.0007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dirty="0"/>
                            <a:t>0.9837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0.0144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1988806"/>
                      </a:ext>
                    </a:extLst>
                  </a:tr>
                  <a:tr h="8485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Test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dirty="0"/>
                            <a:t>0.2087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0.1745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dirty="0"/>
                            <a:t>0.2006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0.1736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dirty="0"/>
                            <a:t>0.0081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0.0014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dirty="0"/>
                            <a:t>0.9443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/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0.0467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4669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elle 27">
                <a:extLst>
                  <a:ext uri="{FF2B5EF4-FFF2-40B4-BE49-F238E27FC236}">
                    <a16:creationId xmlns:a16="http://schemas.microsoft.com/office/drawing/2014/main" id="{0260CF7A-D124-B404-B704-76F440D090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6599785"/>
                  </p:ext>
                </p:extLst>
              </p:nvPr>
            </p:nvGraphicFramePr>
            <p:xfrm>
              <a:off x="230025" y="39848279"/>
              <a:ext cx="11342700" cy="242963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16789">
                      <a:extLst>
                        <a:ext uri="{9D8B030D-6E8A-4147-A177-3AD203B41FA5}">
                          <a16:colId xmlns:a16="http://schemas.microsoft.com/office/drawing/2014/main" val="481421021"/>
                        </a:ext>
                      </a:extLst>
                    </a:gridCol>
                    <a:gridCol w="2554515">
                      <a:extLst>
                        <a:ext uri="{9D8B030D-6E8A-4147-A177-3AD203B41FA5}">
                          <a16:colId xmlns:a16="http://schemas.microsoft.com/office/drawing/2014/main" val="2057229557"/>
                        </a:ext>
                      </a:extLst>
                    </a:gridCol>
                    <a:gridCol w="2496457">
                      <a:extLst>
                        <a:ext uri="{9D8B030D-6E8A-4147-A177-3AD203B41FA5}">
                          <a16:colId xmlns:a16="http://schemas.microsoft.com/office/drawing/2014/main" val="312669834"/>
                        </a:ext>
                      </a:extLst>
                    </a:gridCol>
                    <a:gridCol w="2598057">
                      <a:extLst>
                        <a:ext uri="{9D8B030D-6E8A-4147-A177-3AD203B41FA5}">
                          <a16:colId xmlns:a16="http://schemas.microsoft.com/office/drawing/2014/main" val="1486738712"/>
                        </a:ext>
                      </a:extLst>
                    </a:gridCol>
                    <a:gridCol w="2476882">
                      <a:extLst>
                        <a:ext uri="{9D8B030D-6E8A-4147-A177-3AD203B41FA5}">
                          <a16:colId xmlns:a16="http://schemas.microsoft.com/office/drawing/2014/main" val="1758152548"/>
                        </a:ext>
                      </a:extLst>
                    </a:gridCol>
                  </a:tblGrid>
                  <a:tr h="7326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Split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Loss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Loss CE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2500" b="1" dirty="0"/>
                            <a:t>Loss BCE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 err="1"/>
                            <a:t>Accuracy</a:t>
                          </a:r>
                          <a:endParaRPr lang="de-DE" sz="2500" b="1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544258"/>
                      </a:ext>
                    </a:extLst>
                  </a:tr>
                  <a:tr h="8485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Train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47971" t="-87770" r="-297136" b="-10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51220" t="-87770" r="-203659" b="-10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241784" t="-87770" r="-96009" b="-10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57740" t="-87770" r="-491" b="-102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1988806"/>
                      </a:ext>
                    </a:extLst>
                  </a:tr>
                  <a:tr h="8485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Test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47971" t="-186429" r="-297136" b="-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51220" t="-186429" r="-203659" b="-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41784" t="-186429" r="-96009" b="-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57740" t="-186429" r="-491" b="-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46693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3" name="Grafik 32">
            <a:extLst>
              <a:ext uri="{FF2B5EF4-FFF2-40B4-BE49-F238E27FC236}">
                <a16:creationId xmlns:a16="http://schemas.microsoft.com/office/drawing/2014/main" id="{75C73750-4CB7-7D77-8725-81F5A1B072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564" r="8084" b="4531"/>
          <a:stretch>
            <a:fillRect/>
          </a:stretch>
        </p:blipFill>
        <p:spPr>
          <a:xfrm>
            <a:off x="14110650" y="8795410"/>
            <a:ext cx="13173866" cy="12798049"/>
          </a:xfrm>
          <a:prstGeom prst="rect">
            <a:avLst/>
          </a:prstGeom>
        </p:spPr>
      </p:pic>
      <p:sp>
        <p:nvSpPr>
          <p:cNvPr id="41" name="Google Shape;74;p13">
            <a:extLst>
              <a:ext uri="{FF2B5EF4-FFF2-40B4-BE49-F238E27FC236}">
                <a16:creationId xmlns:a16="http://schemas.microsoft.com/office/drawing/2014/main" id="{D7345669-DDA9-9DA1-6DF1-81670A6F46EF}"/>
              </a:ext>
            </a:extLst>
          </p:cNvPr>
          <p:cNvSpPr/>
          <p:nvPr/>
        </p:nvSpPr>
        <p:spPr>
          <a:xfrm>
            <a:off x="19079285" y="28875302"/>
            <a:ext cx="638273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2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" name="Google Shape;59;p13">
            <a:extLst>
              <a:ext uri="{FF2B5EF4-FFF2-40B4-BE49-F238E27FC236}">
                <a16:creationId xmlns:a16="http://schemas.microsoft.com/office/drawing/2014/main" id="{02EDBBC3-1200-BFBB-7C36-2717CF8406A3}"/>
              </a:ext>
            </a:extLst>
          </p:cNvPr>
          <p:cNvSpPr/>
          <p:nvPr/>
        </p:nvSpPr>
        <p:spPr>
          <a:xfrm>
            <a:off x="11863482" y="21935222"/>
            <a:ext cx="11354399" cy="203426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43" name="Google Shape;61;p13">
            <a:extLst>
              <a:ext uri="{FF2B5EF4-FFF2-40B4-BE49-F238E27FC236}">
                <a16:creationId xmlns:a16="http://schemas.microsoft.com/office/drawing/2014/main" id="{3A2D239E-5292-B5CF-D229-7E7B73118982}"/>
              </a:ext>
            </a:extLst>
          </p:cNvPr>
          <p:cNvSpPr txBox="1"/>
          <p:nvPr/>
        </p:nvSpPr>
        <p:spPr>
          <a:xfrm>
            <a:off x="11865281" y="21896815"/>
            <a:ext cx="11353556" cy="985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de-DE" sz="5200" b="1" dirty="0" err="1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Win</a:t>
            </a:r>
            <a:r>
              <a:rPr lang="de-DE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-Rate</a:t>
            </a:r>
            <a:endParaRPr sz="5200" b="1" dirty="0">
              <a:solidFill>
                <a:srgbClr val="FFFFFF"/>
              </a:solidFill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" name="Google Shape;71;p13">
            <a:extLst>
              <a:ext uri="{FF2B5EF4-FFF2-40B4-BE49-F238E27FC236}">
                <a16:creationId xmlns:a16="http://schemas.microsoft.com/office/drawing/2014/main" id="{331D245D-1CF2-D9CC-555E-D7D23D445F82}"/>
              </a:ext>
            </a:extLst>
          </p:cNvPr>
          <p:cNvSpPr txBox="1"/>
          <p:nvPr/>
        </p:nvSpPr>
        <p:spPr>
          <a:xfrm>
            <a:off x="12568373" y="26035184"/>
            <a:ext cx="8574713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dirty="0">
              <a:solidFill>
                <a:srgbClr val="9E9E9E"/>
              </a:solidFill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74;p13">
            <a:extLst>
              <a:ext uri="{FF2B5EF4-FFF2-40B4-BE49-F238E27FC236}">
                <a16:creationId xmlns:a16="http://schemas.microsoft.com/office/drawing/2014/main" id="{B0E2D34F-E000-D3A4-3940-98D0B027DBB7}"/>
              </a:ext>
            </a:extLst>
          </p:cNvPr>
          <p:cNvSpPr/>
          <p:nvPr/>
        </p:nvSpPr>
        <p:spPr>
          <a:xfrm>
            <a:off x="12099104" y="22014082"/>
            <a:ext cx="778841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6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" name="Google Shape;69;p13">
            <a:extLst>
              <a:ext uri="{FF2B5EF4-FFF2-40B4-BE49-F238E27FC236}">
                <a16:creationId xmlns:a16="http://schemas.microsoft.com/office/drawing/2014/main" id="{0A079BC8-C989-D5B5-CD6D-266B7485F527}"/>
              </a:ext>
            </a:extLst>
          </p:cNvPr>
          <p:cNvSpPr txBox="1"/>
          <p:nvPr/>
        </p:nvSpPr>
        <p:spPr>
          <a:xfrm>
            <a:off x="12099104" y="23004746"/>
            <a:ext cx="10934530" cy="252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400" dirty="0"/>
              <a:t>Win-rate of each XAI method on the train and test splits, computed over the entire dataset and per class.</a:t>
            </a:r>
            <a:endParaRPr sz="43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" name="Google Shape;69;p13">
            <a:extLst>
              <a:ext uri="{FF2B5EF4-FFF2-40B4-BE49-F238E27FC236}">
                <a16:creationId xmlns:a16="http://schemas.microsoft.com/office/drawing/2014/main" id="{F5681D5D-76A1-C5F9-3B5B-22592A7696B0}"/>
              </a:ext>
            </a:extLst>
          </p:cNvPr>
          <p:cNvSpPr txBox="1"/>
          <p:nvPr/>
        </p:nvSpPr>
        <p:spPr>
          <a:xfrm>
            <a:off x="12027508" y="5733772"/>
            <a:ext cx="17672938" cy="322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300" dirty="0">
                <a:latin typeface="Quicksand"/>
              </a:rPr>
              <a:t>Set K as the number of positive pixels in the ground-truth mask</a:t>
            </a:r>
          </a:p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300" dirty="0">
                <a:latin typeface="Quicksand"/>
              </a:rPr>
              <a:t>Select the Top-K highest-scoring pixels from each explanation map</a:t>
            </a:r>
          </a:p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300" dirty="0">
                <a:latin typeface="Quicksand"/>
              </a:rPr>
              <a:t>Compute the overlap between selected pixels and the ground-truth region</a:t>
            </a:r>
          </a:p>
          <a:p>
            <a:pPr marL="457200" lvl="0" indent="-501650">
              <a:lnSpc>
                <a:spcPct val="115000"/>
              </a:lnSpc>
              <a:buSzPts val="4300"/>
              <a:buFont typeface="IBM Plex Sans"/>
              <a:buChar char="●"/>
            </a:pPr>
            <a:r>
              <a:rPr lang="en-US" sz="4300" dirty="0">
                <a:latin typeface="Quicksand"/>
              </a:rPr>
              <a:t>Higher overlap indicates more faithful explanations</a:t>
            </a:r>
            <a:endParaRPr lang="en-US" sz="43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2" name="Grafik 51">
            <a:extLst>
              <a:ext uri="{FF2B5EF4-FFF2-40B4-BE49-F238E27FC236}">
                <a16:creationId xmlns:a16="http://schemas.microsoft.com/office/drawing/2014/main" id="{BD30664E-20D9-B652-8AC7-6085795A0B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599" r="12048" b="1696"/>
          <a:stretch>
            <a:fillRect/>
          </a:stretch>
        </p:blipFill>
        <p:spPr>
          <a:xfrm>
            <a:off x="11966232" y="25464024"/>
            <a:ext cx="11251648" cy="7901478"/>
          </a:xfrm>
          <a:prstGeom prst="rect">
            <a:avLst/>
          </a:prstGeom>
        </p:spPr>
      </p:pic>
      <p:sp>
        <p:nvSpPr>
          <p:cNvPr id="3" name="Google Shape;64;p13">
            <a:extLst>
              <a:ext uri="{FF2B5EF4-FFF2-40B4-BE49-F238E27FC236}">
                <a16:creationId xmlns:a16="http://schemas.microsoft.com/office/drawing/2014/main" id="{C4A272C9-F933-C753-AA1F-C140E5335787}"/>
              </a:ext>
            </a:extLst>
          </p:cNvPr>
          <p:cNvSpPr txBox="1"/>
          <p:nvPr/>
        </p:nvSpPr>
        <p:spPr>
          <a:xfrm>
            <a:off x="451335" y="38893858"/>
            <a:ext cx="10984200" cy="97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Performance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of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the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model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averaged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10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seeds</a:t>
            </a:r>
            <a:endParaRPr lang="de-DE" sz="43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81C2FDF4-276D-0190-2FBE-16566CFDE6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728908"/>
                  </p:ext>
                </p:extLst>
              </p:nvPr>
            </p:nvGraphicFramePr>
            <p:xfrm>
              <a:off x="11890069" y="34527189"/>
              <a:ext cx="11327812" cy="7740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1108">
                      <a:extLst>
                        <a:ext uri="{9D8B030D-6E8A-4147-A177-3AD203B41FA5}">
                          <a16:colId xmlns:a16="http://schemas.microsoft.com/office/drawing/2014/main" val="3328188866"/>
                        </a:ext>
                      </a:extLst>
                    </a:gridCol>
                    <a:gridCol w="1839460">
                      <a:extLst>
                        <a:ext uri="{9D8B030D-6E8A-4147-A177-3AD203B41FA5}">
                          <a16:colId xmlns:a16="http://schemas.microsoft.com/office/drawing/2014/main" val="448395005"/>
                        </a:ext>
                      </a:extLst>
                    </a:gridCol>
                    <a:gridCol w="2884371">
                      <a:extLst>
                        <a:ext uri="{9D8B030D-6E8A-4147-A177-3AD203B41FA5}">
                          <a16:colId xmlns:a16="http://schemas.microsoft.com/office/drawing/2014/main" val="2575191152"/>
                        </a:ext>
                      </a:extLst>
                    </a:gridCol>
                    <a:gridCol w="2560617">
                      <a:extLst>
                        <a:ext uri="{9D8B030D-6E8A-4147-A177-3AD203B41FA5}">
                          <a16:colId xmlns:a16="http://schemas.microsoft.com/office/drawing/2014/main" val="2969877158"/>
                        </a:ext>
                      </a:extLst>
                    </a:gridCol>
                    <a:gridCol w="2682256">
                      <a:extLst>
                        <a:ext uri="{9D8B030D-6E8A-4147-A177-3AD203B41FA5}">
                          <a16:colId xmlns:a16="http://schemas.microsoft.com/office/drawing/2014/main" val="181548363"/>
                        </a:ext>
                      </a:extLst>
                    </a:gridCol>
                  </a:tblGrid>
                  <a:tr h="674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Split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Class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GC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SM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IG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17140463"/>
                      </a:ext>
                    </a:extLst>
                  </a:tr>
                  <a:tr h="83153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Train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Overall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2500" b="1" dirty="0"/>
                            <a:t>0.8713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0.0678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2500" b="0" dirty="0"/>
                            <a:t>0.0486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0.0382</a:t>
                          </a:r>
                          <a:endParaRPr lang="de-DE" sz="2500" dirty="0">
                            <a:latin typeface="Quicksand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2500" b="0" dirty="0"/>
                            <a:t>0.0801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0.0564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0967900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Crack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i="0" dirty="0"/>
                            <a:t>0.9104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0.0740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i="0" dirty="0"/>
                            <a:t> 0.0591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b="0" i="0" dirty="0"/>
                            <a:t>0.0543</a:t>
                          </a:r>
                          <a:endParaRPr lang="de-DE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0" i="0" dirty="0"/>
                            <a:t>0.0305</a:t>
                          </a:r>
                          <a14:m>
                            <m:oMath xmlns:m="http://schemas.openxmlformats.org/officeDocument/2006/math">
                              <m:r>
                                <a:rPr lang="de-DE" sz="2500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0.0495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2036882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0.7968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0.1119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0.0160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0.0321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0.1872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0.1181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64605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Hole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0.8643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0.1445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0.1143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0.1204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0.0214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 0.0327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1039515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pPr algn="ctr"/>
                          <a:endParaRPr lang="de-DE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Print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0.9077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0.1278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0.0000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0.0923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0.1278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1956605"/>
                      </a:ext>
                    </a:extLst>
                  </a:tr>
                  <a:tr h="692701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Test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Overall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0.9017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0.0739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0.0192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0.0405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0.0792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 0.0712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1929864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Crack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0.9167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0.1291 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0.0333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0.1000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0.0500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 0.1000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8928830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Cut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0.8250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0.1601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0.0000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0.1750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0.1601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3938701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Hole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0.9250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0.1601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0.0500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0.0250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0.0750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272322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Print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0.9500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0.1000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0.0000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0.0000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de-DE" sz="25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  <a:sym typeface="Arial"/>
                            </a:rPr>
                            <a:t>0.0500</a:t>
                          </a:r>
                          <a14:m>
                            <m:oMath xmlns:m="http://schemas.openxmlformats.org/officeDocument/2006/math">
                              <m:r>
                                <a:rPr kumimoji="0" lang="de-DE" sz="25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Arial"/>
                                </a:rPr>
                                <m:t>±</m:t>
                              </m:r>
                            </m:oMath>
                          </a14:m>
                          <a:r>
                            <a:rPr lang="de-DE" sz="2500" dirty="0"/>
                            <a:t>0.1000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862956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81C2FDF4-276D-0190-2FBE-16566CFDE6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728908"/>
                  </p:ext>
                </p:extLst>
              </p:nvPr>
            </p:nvGraphicFramePr>
            <p:xfrm>
              <a:off x="11890069" y="34527189"/>
              <a:ext cx="11327812" cy="7740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1108">
                      <a:extLst>
                        <a:ext uri="{9D8B030D-6E8A-4147-A177-3AD203B41FA5}">
                          <a16:colId xmlns:a16="http://schemas.microsoft.com/office/drawing/2014/main" val="3328188866"/>
                        </a:ext>
                      </a:extLst>
                    </a:gridCol>
                    <a:gridCol w="1839460">
                      <a:extLst>
                        <a:ext uri="{9D8B030D-6E8A-4147-A177-3AD203B41FA5}">
                          <a16:colId xmlns:a16="http://schemas.microsoft.com/office/drawing/2014/main" val="448395005"/>
                        </a:ext>
                      </a:extLst>
                    </a:gridCol>
                    <a:gridCol w="2884371">
                      <a:extLst>
                        <a:ext uri="{9D8B030D-6E8A-4147-A177-3AD203B41FA5}">
                          <a16:colId xmlns:a16="http://schemas.microsoft.com/office/drawing/2014/main" val="2575191152"/>
                        </a:ext>
                      </a:extLst>
                    </a:gridCol>
                    <a:gridCol w="2560617">
                      <a:extLst>
                        <a:ext uri="{9D8B030D-6E8A-4147-A177-3AD203B41FA5}">
                          <a16:colId xmlns:a16="http://schemas.microsoft.com/office/drawing/2014/main" val="2969877158"/>
                        </a:ext>
                      </a:extLst>
                    </a:gridCol>
                    <a:gridCol w="2682256">
                      <a:extLst>
                        <a:ext uri="{9D8B030D-6E8A-4147-A177-3AD203B41FA5}">
                          <a16:colId xmlns:a16="http://schemas.microsoft.com/office/drawing/2014/main" val="181548363"/>
                        </a:ext>
                      </a:extLst>
                    </a:gridCol>
                  </a:tblGrid>
                  <a:tr h="674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Split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Class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GC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SM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IG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17140463"/>
                      </a:ext>
                    </a:extLst>
                  </a:tr>
                  <a:tr h="83153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Train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Overall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82353" r="-181857" b="-75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82353" r="-105238" b="-757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82353" r="-455" b="-75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0967900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Crack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217544" r="-181857" b="-8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217544" r="-105238" b="-8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217544" r="-455" b="-8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036882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317544" r="-181857" b="-7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317544" r="-105238" b="-7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317544" r="-455" b="-7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64605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Hole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417544" r="-181857" b="-6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417544" r="-105238" b="-6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417544" r="-455" b="-6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039515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pPr algn="ctr"/>
                          <a:endParaRPr lang="de-DE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Print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522124" r="-181857" b="-5088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522124" r="-105238" b="-5088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522124" r="-455" b="-5088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956605"/>
                      </a:ext>
                    </a:extLst>
                  </a:tr>
                  <a:tr h="692701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de-DE" sz="2500" b="1" dirty="0"/>
                            <a:t>Test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Overall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616667" r="-181857" b="-404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616667" r="-105238" b="-404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616667" r="-455" b="-4043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1929864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Crack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716667" r="-181857" b="-304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716667" r="-105238" b="-304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716667" r="-455" b="-3043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928830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Cut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816667" r="-181857" b="-204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816667" r="-105238" b="-2043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816667" r="-455" b="-2043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938701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Hole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924779" r="-181857" b="-106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924779" r="-105238" b="-106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924779" r="-455" b="-106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272322"/>
                      </a:ext>
                    </a:extLst>
                  </a:tr>
                  <a:tr h="692701">
                    <a:tc vMerge="1"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2500" dirty="0"/>
                            <a:t>Print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10970" t="-1015789" r="-181857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38095" t="-1015789" r="-105238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22727" t="-1015789" r="-455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62956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64;p13">
            <a:extLst>
              <a:ext uri="{FF2B5EF4-FFF2-40B4-BE49-F238E27FC236}">
                <a16:creationId xmlns:a16="http://schemas.microsoft.com/office/drawing/2014/main" id="{E0065422-4063-FBED-1A7F-237C678C87B9}"/>
              </a:ext>
            </a:extLst>
          </p:cNvPr>
          <p:cNvSpPr txBox="1"/>
          <p:nvPr/>
        </p:nvSpPr>
        <p:spPr>
          <a:xfrm>
            <a:off x="12018225" y="33461757"/>
            <a:ext cx="10984200" cy="97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Win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-rate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of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XAI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methods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averaged</a:t>
            </a:r>
            <a:r>
              <a:rPr lang="vi-VN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10 </a:t>
            </a:r>
            <a:r>
              <a:rPr lang="de-DE" sz="4300" dirty="0" err="1">
                <a:latin typeface="Quicksand"/>
                <a:ea typeface="IBM Plex Sans"/>
                <a:cs typeface="IBM Plex Sans"/>
                <a:sym typeface="IBM Plex Sans"/>
              </a:rPr>
              <a:t>seeds</a:t>
            </a:r>
            <a:r>
              <a:rPr lang="de-DE" sz="4300" dirty="0">
                <a:latin typeface="Quicksand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8" name="Google Shape;62;p13">
            <a:extLst>
              <a:ext uri="{FF2B5EF4-FFF2-40B4-BE49-F238E27FC236}">
                <a16:creationId xmlns:a16="http://schemas.microsoft.com/office/drawing/2014/main" id="{1FC392AB-5460-DD68-23AF-660D4A547C93}"/>
              </a:ext>
            </a:extLst>
          </p:cNvPr>
          <p:cNvSpPr/>
          <p:nvPr/>
        </p:nvSpPr>
        <p:spPr>
          <a:xfrm>
            <a:off x="23375197" y="21908951"/>
            <a:ext cx="6511832" cy="2036895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Quicksand"/>
            </a:endParaRPr>
          </a:p>
        </p:txBody>
      </p:sp>
      <p:sp>
        <p:nvSpPr>
          <p:cNvPr id="19" name="Google Shape;63;p13">
            <a:extLst>
              <a:ext uri="{FF2B5EF4-FFF2-40B4-BE49-F238E27FC236}">
                <a16:creationId xmlns:a16="http://schemas.microsoft.com/office/drawing/2014/main" id="{1EF229D8-691B-6F8B-5111-193E92346A86}"/>
              </a:ext>
            </a:extLst>
          </p:cNvPr>
          <p:cNvSpPr txBox="1"/>
          <p:nvPr/>
        </p:nvSpPr>
        <p:spPr>
          <a:xfrm>
            <a:off x="23372622" y="21918331"/>
            <a:ext cx="6533011" cy="985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5200" b="1" dirty="0">
                <a:solidFill>
                  <a:srgbClr val="FFFFFF"/>
                </a:solidFill>
                <a:latin typeface="Quicksand"/>
                <a:ea typeface="IBM Plex Sans"/>
                <a:cs typeface="IBM Plex Sans"/>
                <a:sym typeface="IBM Plex Sans"/>
              </a:rPr>
              <a:t>Discussion</a:t>
            </a:r>
            <a:endParaRPr sz="5200" b="1" dirty="0">
              <a:solidFill>
                <a:srgbClr val="FFFFFF"/>
              </a:solidFill>
              <a:latin typeface="Quicksand"/>
              <a:ea typeface="Lora"/>
              <a:cs typeface="Lora"/>
              <a:sym typeface="Lora"/>
            </a:endParaRPr>
          </a:p>
        </p:txBody>
      </p:sp>
      <p:sp>
        <p:nvSpPr>
          <p:cNvPr id="20" name="Google Shape;64;p13">
            <a:extLst>
              <a:ext uri="{FF2B5EF4-FFF2-40B4-BE49-F238E27FC236}">
                <a16:creationId xmlns:a16="http://schemas.microsoft.com/office/drawing/2014/main" id="{2459A91E-FB2A-7576-020C-D4DFB54F61C7}"/>
              </a:ext>
            </a:extLst>
          </p:cNvPr>
          <p:cNvSpPr txBox="1"/>
          <p:nvPr/>
        </p:nvSpPr>
        <p:spPr>
          <a:xfrm>
            <a:off x="23504093" y="22873523"/>
            <a:ext cx="6263430" cy="1318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en-US" sz="4400" b="1" dirty="0">
                <a:latin typeface="Quicksand"/>
              </a:rPr>
              <a:t>Conclusion:</a:t>
            </a:r>
          </a:p>
          <a:p>
            <a:pPr marL="571500" indent="-571500">
              <a:lnSpc>
                <a:spcPct val="120000"/>
              </a:lnSpc>
              <a:buSzPts val="4200"/>
              <a:buFontTx/>
              <a:buChar char="-"/>
            </a:pPr>
            <a:r>
              <a:rPr lang="en-US" sz="4400" dirty="0"/>
              <a:t>GC consistently performs best across all classes and the full dataset.</a:t>
            </a:r>
          </a:p>
          <a:p>
            <a:pPr marL="571500" indent="-571500">
              <a:lnSpc>
                <a:spcPct val="120000"/>
              </a:lnSpc>
              <a:buSzPts val="4200"/>
              <a:buFontTx/>
              <a:buChar char="-"/>
            </a:pPr>
            <a:r>
              <a:rPr lang="en-US" sz="4400" dirty="0"/>
              <a:t>GC produces smoother, less noisy explanations for CNN-based image classification by focusing on high-level semantic information.</a:t>
            </a:r>
          </a:p>
          <a:p>
            <a:pPr marL="571500" indent="-571500">
              <a:lnSpc>
                <a:spcPct val="120000"/>
              </a:lnSpc>
              <a:buSzPts val="4200"/>
              <a:buFontTx/>
              <a:buChar char="-"/>
            </a:pPr>
            <a:r>
              <a:rPr lang="en-US" sz="4400" dirty="0"/>
              <a:t>Selecting the appropriate XAI method is task- and data-dependent.</a:t>
            </a:r>
          </a:p>
        </p:txBody>
      </p:sp>
      <p:sp>
        <p:nvSpPr>
          <p:cNvPr id="22" name="Google Shape;74;p13">
            <a:extLst>
              <a:ext uri="{FF2B5EF4-FFF2-40B4-BE49-F238E27FC236}">
                <a16:creationId xmlns:a16="http://schemas.microsoft.com/office/drawing/2014/main" id="{F91705B3-215B-CDE0-47BA-F9F62963170C}"/>
              </a:ext>
            </a:extLst>
          </p:cNvPr>
          <p:cNvSpPr/>
          <p:nvPr/>
        </p:nvSpPr>
        <p:spPr>
          <a:xfrm>
            <a:off x="23587238" y="21998815"/>
            <a:ext cx="778841" cy="7812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 dirty="0">
                <a:latin typeface="Quicksand"/>
                <a:ea typeface="IBM Plex Sans"/>
                <a:cs typeface="IBM Plex Sans"/>
                <a:sym typeface="IBM Plex Sans"/>
              </a:rPr>
              <a:t>7</a:t>
            </a:r>
            <a:endParaRPr sz="4800" dirty="0">
              <a:latin typeface="Quicksand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Google Shape;64;p13">
            <a:extLst>
              <a:ext uri="{FF2B5EF4-FFF2-40B4-BE49-F238E27FC236}">
                <a16:creationId xmlns:a16="http://schemas.microsoft.com/office/drawing/2014/main" id="{D00AB90E-4C7E-763D-B758-9413B6BC6F6D}"/>
              </a:ext>
            </a:extLst>
          </p:cNvPr>
          <p:cNvSpPr txBox="1"/>
          <p:nvPr/>
        </p:nvSpPr>
        <p:spPr>
          <a:xfrm>
            <a:off x="23437016" y="36055613"/>
            <a:ext cx="6263430" cy="262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en-US" sz="4400" b="1" dirty="0">
                <a:latin typeface="Quicksand"/>
              </a:rPr>
              <a:t>Limitations</a:t>
            </a:r>
          </a:p>
          <a:p>
            <a:pPr marL="571500" indent="-571500">
              <a:lnSpc>
                <a:spcPct val="120000"/>
              </a:lnSpc>
              <a:buSzPts val="4200"/>
              <a:buFontTx/>
              <a:buChar char="-"/>
            </a:pPr>
            <a:r>
              <a:rPr lang="en-US" sz="4400" dirty="0"/>
              <a:t>GC is limited to CNN-based image models.</a:t>
            </a:r>
          </a:p>
        </p:txBody>
      </p:sp>
      <p:sp>
        <p:nvSpPr>
          <p:cNvPr id="26" name="Google Shape;64;p13">
            <a:extLst>
              <a:ext uri="{FF2B5EF4-FFF2-40B4-BE49-F238E27FC236}">
                <a16:creationId xmlns:a16="http://schemas.microsoft.com/office/drawing/2014/main" id="{D9190B6B-E4AA-D8C0-7C78-E4D23564C47B}"/>
              </a:ext>
            </a:extLst>
          </p:cNvPr>
          <p:cNvSpPr txBox="1"/>
          <p:nvPr/>
        </p:nvSpPr>
        <p:spPr>
          <a:xfrm>
            <a:off x="23437016" y="38796633"/>
            <a:ext cx="6263430" cy="336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495300">
              <a:lnSpc>
                <a:spcPct val="120000"/>
              </a:lnSpc>
              <a:buSzPts val="4200"/>
              <a:buFont typeface="IBM Plex Sans"/>
              <a:buChar char="●"/>
            </a:pPr>
            <a:r>
              <a:rPr lang="en-US" sz="4300" b="1" dirty="0">
                <a:latin typeface="Quicksand"/>
              </a:rPr>
              <a:t>Future Work</a:t>
            </a:r>
          </a:p>
          <a:p>
            <a:pPr marL="571500" indent="-571500">
              <a:lnSpc>
                <a:spcPct val="120000"/>
              </a:lnSpc>
              <a:buSzPts val="4200"/>
              <a:buFontTx/>
              <a:buChar char="-"/>
            </a:pPr>
            <a:r>
              <a:rPr lang="en-US" sz="4300" dirty="0"/>
              <a:t>Apply GC to video-based tasks, such as object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Benutzerdefiniert</PresentationFormat>
  <Paragraphs>114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IBM Plex Sans</vt:lpstr>
      <vt:lpstr>Quicksand</vt:lpstr>
      <vt:lpstr>Cambria Math</vt:lpstr>
      <vt:lpstr>Arial</vt:lpstr>
      <vt:lpstr>Simple Light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Pham, Anh Khoa (EKSE/3)</dc:creator>
  <cp:lastModifiedBy>Pham, Anh Khoa (EKSE/3)</cp:lastModifiedBy>
  <cp:revision>11</cp:revision>
  <dcterms:modified xsi:type="dcterms:W3CDTF">2026-02-02T14:45:21Z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Light:3</vt:lpwstr>
  </property>
  <property fmtid="{D5CDD505-2E9C-101B-9397-08002B2CF9AE}" pid="3" name="ClassificationContentMarkingFooterText">
    <vt:lpwstr>INTERNAL</vt:lpwstr>
  </property>
</Properties>
</file>